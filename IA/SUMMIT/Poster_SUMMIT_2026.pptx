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35661600"/>
  <p:notesSz cx="35661600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3BC5"/>
    <a:srgbClr val="9A5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965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8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FDAA03F-2538-E11D-B9D6-D80A0205C579}"/>
              </a:ext>
            </a:extLst>
          </p:cNvPr>
          <p:cNvSpPr/>
          <p:nvPr/>
        </p:nvSpPr>
        <p:spPr>
          <a:xfrm>
            <a:off x="11298556" y="14914880"/>
            <a:ext cx="5780087" cy="640080"/>
          </a:xfrm>
          <a:prstGeom prst="roundRect">
            <a:avLst/>
          </a:prstGeom>
          <a:solidFill>
            <a:srgbClr val="8A3B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CC86D10-8871-950A-1EB0-D8A35F1715BC}"/>
              </a:ext>
            </a:extLst>
          </p:cNvPr>
          <p:cNvSpPr/>
          <p:nvPr/>
        </p:nvSpPr>
        <p:spPr>
          <a:xfrm>
            <a:off x="11298556" y="9041764"/>
            <a:ext cx="5694044" cy="718185"/>
          </a:xfrm>
          <a:prstGeom prst="roundRect">
            <a:avLst/>
          </a:prstGeom>
          <a:solidFill>
            <a:srgbClr val="8A3B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8AC75D5-53F4-D997-89A5-C3DA896CCC48}"/>
              </a:ext>
            </a:extLst>
          </p:cNvPr>
          <p:cNvSpPr/>
          <p:nvPr/>
        </p:nvSpPr>
        <p:spPr>
          <a:xfrm>
            <a:off x="-20320" y="22808567"/>
            <a:ext cx="4470400" cy="673100"/>
          </a:xfrm>
          <a:prstGeom prst="roundRect">
            <a:avLst/>
          </a:prstGeom>
          <a:solidFill>
            <a:srgbClr val="8A3B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F964972-3746-AEA5-F77D-D1B66D2D14A4}"/>
              </a:ext>
            </a:extLst>
          </p:cNvPr>
          <p:cNvSpPr/>
          <p:nvPr/>
        </p:nvSpPr>
        <p:spPr>
          <a:xfrm>
            <a:off x="30480" y="15547337"/>
            <a:ext cx="4470400" cy="673100"/>
          </a:xfrm>
          <a:prstGeom prst="roundRect">
            <a:avLst/>
          </a:prstGeom>
          <a:solidFill>
            <a:srgbClr val="8A3B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B139F2D-BF9B-B373-3F73-54827E995A5F}"/>
              </a:ext>
            </a:extLst>
          </p:cNvPr>
          <p:cNvSpPr/>
          <p:nvPr/>
        </p:nvSpPr>
        <p:spPr>
          <a:xfrm>
            <a:off x="0" y="8839835"/>
            <a:ext cx="4470400" cy="673100"/>
          </a:xfrm>
          <a:prstGeom prst="roundRect">
            <a:avLst/>
          </a:prstGeom>
          <a:solidFill>
            <a:srgbClr val="8A3B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2CFB71E-799B-64F7-9D41-5E27B1B99AC6}"/>
              </a:ext>
            </a:extLst>
          </p:cNvPr>
          <p:cNvSpPr/>
          <p:nvPr/>
        </p:nvSpPr>
        <p:spPr>
          <a:xfrm>
            <a:off x="0" y="6880860"/>
            <a:ext cx="30267275" cy="982980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 0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0267276" cy="62045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16230" y="6550660"/>
            <a:ext cx="2843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TRATAMENTO DE DADOS PODE MUDAR UMA ELEIÇÃO: O CASO LITERARY DIGEST 1936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0" y="7750810"/>
            <a:ext cx="2843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Treatment Can Change an Election: the 1936 Literary Digest Case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42240" y="8997950"/>
            <a:ext cx="2931160" cy="47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77190" y="9933940"/>
            <a:ext cx="963041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 1936, a revista The Literary Digest enviou 10 milhões de cartões postais e recebeu quase 2,4 milhões de respostas para prever o resultado da eleição presidencial americana.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 base nesse volume, a revista previu uma vitória folgada do republicano Alf Landon (57%). O resultado real foi o oposto: Franklin D. Roosevelt venceu com ampla margem — um dos maiores erros preditivos da história da estatística, causado não pela falta de dados, mas por uma amostra enviesada.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42240" y="15502255"/>
            <a:ext cx="3302000" cy="85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16230" y="16363315"/>
            <a:ext cx="9093200" cy="4772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25000"/>
              </a:lnSpc>
              <a:spcAft>
                <a:spcPts val="2200"/>
              </a:spcAft>
              <a:buSzPct val="100000"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Limpeza e organização dos dados históricos da revista para os 48 estados norte-americanos (Pandas).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Comparação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estado a estado, entre a participação de cada candidato na amostra da revista e o resultado oficial das urnas em 1936.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Cálculo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de correlações (Pearson e Spearman) entre os números da revista e os votos oficiais.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  <a:spcAft>
                <a:spcPts val="2200"/>
              </a:spcAft>
              <a:buSzPct val="100000"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Construção de um modelo de regressão linear (Scikit-Learn), usando o comportamento eleitoral de 1932 como âncora para corrigir a previsão de 1936, validado por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validação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cruzada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.’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 rot="10800000" flipV="1">
            <a:off x="142240" y="22891750"/>
            <a:ext cx="3149600" cy="612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-1" y="23807425"/>
            <a:ext cx="9093200" cy="783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25000"/>
              </a:lnSpc>
              <a:spcAft>
                <a:spcPts val="2200"/>
              </a:spcAft>
              <a:buSzPct val="100000"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 erro de 1936 não foi de volume, mas de representatividade: a amostra privilegiou um público de renda mais alta (assinantes, donos de carro e telefone), historicamente mais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republicano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 viés de não resposta reforçou a distorção: eleitores insatisfeitos com a economia tendiam a responder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menos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Ancorar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a correção no padrão eleitoral de 1932 reduziu o erro médio de ~18 pontos percentuais para menos de 5, mostrando o poder de um tratamento de dados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adequado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 O caso segue atual: bases usadas para treinar modelos de IA podem reproduzir os mesmos vieses de coleta, reforçando a importância de avaliar a representatividade da amostra antes de qualquer inferência.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1430000" y="9041764"/>
            <a:ext cx="59436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DOS RESULTADOS</a:t>
            </a: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117537"/>
              </p:ext>
            </p:extLst>
          </p:nvPr>
        </p:nvGraphicFramePr>
        <p:xfrm>
          <a:off x="11298556" y="10071100"/>
          <a:ext cx="17455512" cy="4254501"/>
        </p:xfrm>
        <a:graphic>
          <a:graphicData uri="http://schemas.openxmlformats.org/drawingml/2006/table">
            <a:tbl>
              <a:tblPr/>
              <a:tblGrid>
                <a:gridCol w="290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57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Candidato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Correlação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(votos brutos)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Correlação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 no estado)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Viés médio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(pontos %)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 após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correção (pp)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(regressão)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Landon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0,98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0,89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-17,4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4,6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0,78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Roosevelt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0,97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0,91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+18,7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4,25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0,82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1473498" y="14993937"/>
            <a:ext cx="5490844" cy="558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DISCUSSÃO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1298556" y="15966440"/>
            <a:ext cx="1792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amostra da revista apresentou correlação alta com os votos brutos por estado (acima de 0,97), mas correlação bem mais fraca com a proporção de votos de cada candidato dentro do estado — sinal de que o problema não era a quantidade de respostas, e sim quem </a:t>
            </a:r>
            <a:r>
              <a:rPr lang="en-US" sz="3000" dirty="0" err="1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respondia</a:t>
            </a:r>
            <a:r>
              <a:rPr lang="en-US" sz="3000" dirty="0">
                <a:solidFill>
                  <a:srgbClr val="3D3D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 Em média, Landon foi superestimado em 17,4 pontos percentuais e Roosevelt subestimado em 18,7. O modelo de regressão, ancorado no padrão eleitoral de 1932, reduziu esse erro para menos de 5 pontos percentuais em ambos os casos, com poder explicativo (R²) acima de 0,78.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" descr="grafico_previsao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085" y="19815178"/>
            <a:ext cx="9326632" cy="7608568"/>
          </a:xfrm>
          <a:prstGeom prst="rect">
            <a:avLst/>
          </a:prstGeom>
        </p:spPr>
      </p:pic>
      <p:pic>
        <p:nvPicPr>
          <p:cNvPr id="18" name="Image 2" descr="grafico_erro_corre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6312" y="19748500"/>
            <a:ext cx="9326632" cy="76085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73498" y="27668853"/>
            <a:ext cx="17922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6B6B6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Estados com as maiores discrepâncias entre a intenção captada pela revista e o resultado real: Massachusetts, Rhode Island, Wisconsin, New Hampshire e Montana.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1430000" y="30349190"/>
            <a:ext cx="17922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900" dirty="0"/>
          </a:p>
        </p:txBody>
      </p:sp>
      <p:pic>
        <p:nvPicPr>
          <p:cNvPr id="22" name="Image 3" descr="foo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1302963"/>
            <a:ext cx="30266640" cy="4358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506</Words>
  <Application>Microsoft Office PowerPoint</Application>
  <PresentationFormat>Personalizar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Thamyres Souza</cp:lastModifiedBy>
  <cp:revision>3</cp:revision>
  <dcterms:created xsi:type="dcterms:W3CDTF">2026-09-27T21:55:30Z</dcterms:created>
  <dcterms:modified xsi:type="dcterms:W3CDTF">2026-09-28T00:35:42Z</dcterms:modified>
</cp:coreProperties>
</file>